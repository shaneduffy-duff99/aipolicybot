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Platform Build</c:v>
                </c:pt>
                <c:pt idx="1">
                  <c:v>Sales &amp; Brokers</c:v>
                </c:pt>
                <c:pt idx="2">
                  <c:v>Marketing</c:v>
                </c:pt>
                <c:pt idx="3">
                  <c:v>Legal</c:v>
                </c:pt>
                <c:pt idx="4">
                  <c:v>Ops &amp; Runway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100</c:v>
                </c:pt>
                <c:pt idx="2">
                  <c:v>70</c:v>
                </c:pt>
                <c:pt idx="3">
                  <c:v>30</c:v>
                </c:pt>
                <c:pt idx="4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F4-0444-BC70-6933C35E9D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7D485-F5B6-C64F-AB14-012DFD58E4A6}" type="datetimeFigureOut">
              <a:rPr lang="en-DE" smtClean="0"/>
              <a:t>22.05.26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EBDF0-76BD-3A40-BD23-F82BF77B7FA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394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BDADD1A-D164-73F7-310A-04DF3710B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7" t="44025" r="2037" b="17005"/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</a:t>
            </a: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home for all your insurance.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5603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hello@mypoli.ai · mypoli.ai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A0235B-D9BA-5E3E-40B3-3E8C3C812E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6" t="2403" b="8077"/>
          <a:stretch>
            <a:fillRect/>
          </a:stretch>
        </p:blipFill>
        <p:spPr>
          <a:xfrm>
            <a:off x="4958259" y="806796"/>
            <a:ext cx="3728541" cy="341303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50800" dist="762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flying blind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insurance.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4937760" cy="141732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tried to claim on a broken window in my rental property. I had no idea what was covered. I spent hours trying to get someone on the phone just to get a straight answer."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Shane Duffy, Founder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77840" y="1280160"/>
            <a:ext cx="1051560" cy="141732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5650992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50992" y="19385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policyholders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read their policy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20840" y="1280160"/>
            <a:ext cx="1051560" cy="141732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793992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93992" y="19385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NOT covered for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1051560" cy="141732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936992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6992" y="19385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unclaimed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policies annually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7784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burning problems: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3284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5806440" y="3218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claims — exposed at the worst moment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75818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5806440" y="36484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Overpaying — overlapping cover, wasted money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18795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5806440" y="4078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— too confused to compare or switch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four layers.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engine. Clarity is the product.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536192"/>
            <a:ext cx="205740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256032" y="1536192"/>
            <a:ext cx="2057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19072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1828800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manage all your insurance policies in one place.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Life · Car · Health · Business · Travel — every policy, every insurer, one dashboard. Always up to date.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536192"/>
            <a:ext cx="205740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2468880" y="1536192"/>
            <a:ext cx="20574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2578608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78608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78608" y="2542032"/>
            <a:ext cx="1828800" cy="27432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2578608" y="26334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true coverage, risk exposure, and gaps.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78608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every policy. Coverage Score 0–100. Underinsurance alerts. Gap identification against your life profile.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81728" y="1536192"/>
            <a:ext cx="205740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4681728" y="1536192"/>
            <a:ext cx="2057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4791456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44768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91456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91456" y="2542032"/>
            <a:ext cx="182880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4791456" y="26334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recommendations, renewals, claims guidance, and support.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91456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better cover. File a claim. Get renewal reminders. One-click actions — not just information.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94576" y="1536192"/>
            <a:ext cx="205740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6894576" y="1536192"/>
            <a:ext cx="20574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7004304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57616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04304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04304" y="2542032"/>
            <a:ext cx="182880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7004304" y="26334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brokers and insurers to deliver proactive, personalised experiences.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04304" y="33375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portal. Marketplace engine. Enterprise API. Broker admin. Gap-to-product matching at scale.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04288" y="26517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17136" y="26517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9984" y="26517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 — SYSTEM OF RECORD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675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have 4–6 policies across different insurers, different renewal dates, and documents buried in email folders or kitchen drawers.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MyPoli.ai is the single place where all of it lives.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325880" cy="38404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66928" y="2679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65960" y="2606040"/>
            <a:ext cx="1325880" cy="38404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2075688" y="2679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Life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325880" cy="38404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566928" y="3182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65960" y="3108960"/>
            <a:ext cx="1325880" cy="38404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2075688" y="3182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325880" cy="38404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566928" y="36850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65960" y="3611880"/>
            <a:ext cx="1325880" cy="38404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2075688" y="36850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Travel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renewal dashboard.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coverage view.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your family can find everything.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5994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</a:t>
            </a:r>
            <a:endParaRPr lang="en-US" sz="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1BED1DA-EEB0-DC4F-86B7-E3C38030A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94" b="7531"/>
          <a:stretch>
            <a:fillRect/>
          </a:stretch>
        </p:blipFill>
        <p:spPr>
          <a:xfrm>
            <a:off x="4527122" y="1204581"/>
            <a:ext cx="4376985" cy="2949222"/>
          </a:xfrm>
          <a:prstGeom prst="rect">
            <a:avLst/>
          </a:prstGeom>
          <a:ln w="3175">
            <a:solidFill>
              <a:srgbClr val="FFFFF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—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you're actually covered for.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6576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exclusion, limit and condition explained simply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6576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 0–100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Life, Health, Property, Cyber, Liability, Income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36576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your property, location and family profile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36576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40080" y="3127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Underinsurance calculator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015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covered for what your assets are actually worth?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36576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40080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benchmarking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overpaying vs comparable policies right now?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chatbot.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persistent intelligence layer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your actual policies.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45994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</a:t>
            </a:r>
            <a:endParaRPr lang="en-US" sz="7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D69D503-230A-62AD-0508-47207146E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85" b="7375"/>
          <a:stretch>
            <a:fillRect/>
          </a:stretch>
        </p:blipFill>
        <p:spPr>
          <a:xfrm>
            <a:off x="4572000" y="1232452"/>
            <a:ext cx="4376985" cy="2949222"/>
          </a:xfrm>
          <a:prstGeom prst="rect">
            <a:avLst/>
          </a:prstGeom>
          <a:ln w="3175">
            <a:solidFill>
              <a:srgbClr val="FFFFFF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 — 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without action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noise.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89458" cy="557784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6576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40080" y="15636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better cover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comparison → one-click switching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3689458" cy="539496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36576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404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before renewal · pre-filled forms · negotiation tips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199" y="2752344"/>
            <a:ext cx="3689459" cy="539496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36576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40080" y="28072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guidance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support when you actually need to claim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3689459" cy="539496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36576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of Kin vault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6484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access in an emergency — without needing to call anyone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95928"/>
            <a:ext cx="3689459" cy="50292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36576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640080" y="40507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recommendations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2702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when your life changes: new property, new child, new job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45994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</a:t>
            </a:r>
            <a:endParaRPr lang="en-US" sz="7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3D33E51-055D-CD82-B77B-80B26A1421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" t="2939" r="-248" b="7221"/>
          <a:stretch>
            <a:fillRect/>
          </a:stretch>
        </p:blipFill>
        <p:spPr>
          <a:xfrm>
            <a:off x="4582855" y="1275872"/>
            <a:ext cx="4376985" cy="2949222"/>
          </a:xfrm>
          <a:prstGeom prst="rect">
            <a:avLst/>
          </a:prstGeom>
          <a:ln w="3175">
            <a:solidFill>
              <a:srgbClr val="FFFFFF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04 — ECOSYSTEM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B2B layer that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this fundable.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Broker Portal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branded platform per broker · custom domain · admin panel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6576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→ product recommendation → quote in one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6576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€500/mo · carriers and aggregators embed MyPoli intelligence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576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coverage scores · gap trends · renewal pipeline visibility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prefer B2B. This is the B2B layer.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growth funds the ecosystem. The ecosystem funds the raise.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45994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A2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</a:t>
            </a:r>
            <a:endParaRPr lang="en-US" sz="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143F89-95DA-8FB6-C766-E56B6845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4" b="7016"/>
          <a:stretch>
            <a:fillRect/>
          </a:stretch>
        </p:blipFill>
        <p:spPr>
          <a:xfrm>
            <a:off x="4572000" y="1243307"/>
            <a:ext cx="4376985" cy="29492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COMPETITIVE POSITION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not just paste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policy into ChatGPT?"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investor will ask. Here's the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3703320" cy="301752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(ChatGPT / Claude)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4505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50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one document at a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788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sessions (</a:t>
            </a: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Version)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127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price comparison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 profile or gap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03904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8039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switching or claims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/ next of kin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broker or insurer integration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1920240"/>
            <a:ext cx="3703320" cy="3017520"/>
          </a:xfrm>
          <a:prstGeom prst="rect">
            <a:avLst/>
          </a:prstGeom>
          <a:solidFill>
            <a:srgbClr val="0A1A12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5074920" y="1993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MyPoli.ai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24505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2450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your entire insurance profile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78892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2788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— builds over 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12724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127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benchmarking and pricing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346557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to your property and family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3803904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38039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switching and claims guidance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414223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of kin vault with emergency access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448056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21808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 for brokers and carriers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market with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clarity gap.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29768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€1.4T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2157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insurance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market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14630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2532888" y="146304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2642616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42616" y="2157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brokers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Ireland &amp; UK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5736" y="14630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4745736" y="14630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855464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55464" y="2157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 market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58584" y="14630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6958584" y="1463040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068312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68312" y="2157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InsurTech VC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to AI in 2025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4572000" cy="347472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€1.4T  —  Global insurance brokerage market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858768"/>
            <a:ext cx="320040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548640" y="39044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€42B  —  Europe — AI-addressable broker + consumer segment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288536"/>
            <a:ext cx="201168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548640" y="4334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€850M  —  UK &amp; Ireland 5-year addressable market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USER STORIES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 who need this today.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Sarah, 38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99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&amp; parent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" y="1783080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home, life, car and health insurance — never read any of them. After a flood scare she doesn't know if she's covered. Uploads all four policies. Within 60 seconds her coverage score is 62 — Flood is 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3767328"/>
            <a:ext cx="2615184" cy="1828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Adds flood cover. Sets up next of kin access for her husband.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3337560" y="1170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James, 52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499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broker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783080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3337560" y="18745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400 clients. Renewal season is brutal — no visibility into who has dangerous gaps until they call with a claim. White-labels MyPoli.ai. Now sees every gap across his entire book from one admin dashboard.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3767328"/>
            <a:ext cx="2615184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3337560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Identifies 68 clients with cyber gaps. Sends a targeted offer in one click.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6172200" y="105156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309360" y="1170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Maria, 71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499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Retired, lives alone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81928" y="1783080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6309360" y="18745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several policies her late husband set up. No idea what they cover. Her daughter is abroad. Daughter logs in via next of kin access — sees all policies, scores and key contacts without calling anyone.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81928" y="3767328"/>
            <a:ext cx="2615184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Finds an unclaimed life policy worth €45,000.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CA5526B-2D99-5172-34EF-08D43C6E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1" t="19543" r="73107" b="31105"/>
          <a:stretch>
            <a:fillRect/>
          </a:stretch>
        </p:blipFill>
        <p:spPr>
          <a:xfrm>
            <a:off x="2348799" y="1094996"/>
            <a:ext cx="714441" cy="928993"/>
          </a:xfrm>
          <a:prstGeom prst="rect">
            <a:avLst/>
          </a:prstGeom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020C1B9-BD90-9EB9-185A-7C3CD7517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99" t="19157" r="36929" b="31491"/>
          <a:stretch>
            <a:fillRect/>
          </a:stretch>
        </p:blipFill>
        <p:spPr>
          <a:xfrm>
            <a:off x="5326321" y="1089847"/>
            <a:ext cx="714441" cy="928993"/>
          </a:xfrm>
          <a:prstGeom prst="rect">
            <a:avLst/>
          </a:prstGeom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2F970AA-FBA8-0790-37E9-95D321829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17" t="18945" r="3611" b="31703"/>
          <a:stretch>
            <a:fillRect/>
          </a:stretch>
        </p:blipFill>
        <p:spPr>
          <a:xfrm>
            <a:off x="8292399" y="1092147"/>
            <a:ext cx="714441" cy="928993"/>
          </a:xfrm>
          <a:prstGeom prst="rect">
            <a:avLst/>
          </a:prstGeom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REVENUE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streams. One platform. Built to scale.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— Freemium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755648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analyses, 5-page upload limit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26771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713232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€9.99/month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4323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all policies · full chat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779776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13232" y="2688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€79/year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— 34% saving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32918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13232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€14.99/month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plan · up to 5 members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38039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13232" y="3712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968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of Kin vault in all paid plans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709160" y="1051560"/>
            <a:ext cx="4114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846320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White-Label &amp; API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64608" y="1755648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5102352" y="1664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€25,000/year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broker · white-label platform licence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64608" y="2267712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5102352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€2,500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2352" y="24323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onboarding and config fee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64608" y="2779776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5102352" y="2688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marketplace policy referrals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64608" y="32918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5102352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€500/month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 · carriers + aggregators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64608" y="3803904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5102352" y="3712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3968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broker co-branding tier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41148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broker partners × €25K = €125K ARR  ·  500 consumers × €9.99/mo = €60K ARR  ·  Year 1 target: €185K ARR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BUILD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production — 18 weeks.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11480" y="1088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Weeks 1–6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" y="2523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21792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database (Supabase)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8712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21792" y="2779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+ OCR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32186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21792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AI API (production)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35661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21792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9136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21792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+ freemium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05156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3246120" y="1051560"/>
            <a:ext cx="28346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3383280" y="1088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Weeks 7–14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1600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€41,000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10712" y="252374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3593592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0712" y="287121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3593592" y="2779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admin portal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32186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3593592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gap matching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35661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3593592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per broker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0712" y="39136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3593592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105156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5" name="Shape 33"/>
          <p:cNvSpPr/>
          <p:nvPr/>
        </p:nvSpPr>
        <p:spPr>
          <a:xfrm>
            <a:off x="6217920" y="1051560"/>
            <a:ext cx="28346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6355080" y="1088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Weeks 15–18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1600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+ Polish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5508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€24,000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382512" y="25237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6565392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of Kin access logic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82512" y="28712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40"/>
          <p:cNvSpPr/>
          <p:nvPr/>
        </p:nvSpPr>
        <p:spPr>
          <a:xfrm>
            <a:off x="6565392" y="2779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(Onfido)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82512" y="32186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ext 42"/>
          <p:cNvSpPr/>
          <p:nvPr/>
        </p:nvSpPr>
        <p:spPr>
          <a:xfrm>
            <a:off x="6565392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QA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82512" y="35661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Text 44"/>
          <p:cNvSpPr/>
          <p:nvPr/>
        </p:nvSpPr>
        <p:spPr>
          <a:xfrm>
            <a:off x="6565392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(OWASP)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82512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Text 46"/>
          <p:cNvSpPr/>
          <p:nvPr/>
        </p:nvSpPr>
        <p:spPr>
          <a:xfrm>
            <a:off x="6565392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launch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0" name="Text 48"/>
          <p:cNvSpPr/>
          <p:nvPr/>
        </p:nvSpPr>
        <p:spPr>
          <a:xfrm>
            <a:off x="594360" y="4544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€94,000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4360" y="4809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0" y="4544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+€14,100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743200" y="4809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15%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92040" y="4544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€108,100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892040" y="4809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 v1.0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040880" y="4544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weeks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040880" y="4809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USE OF FUNDS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€350,000 Pre-Seed · SAFE Note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005840"/>
          <a:ext cx="3108960" cy="347472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Funds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Build (Phases 1–3 + contingency)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€108,100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v1.0 in 18 weeks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Broker Development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3–5 broker pilots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Consumer Acquisition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+ organic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Legal, Compliance &amp; 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Entity, GDPR, contracts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Runway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€41,900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months runway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TRACTION &amp; MILESTONES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are. Where we're going.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5506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8580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consumer platform built and deployed (mypoli.ai)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8580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broker platform — 10 pages, fully functional demo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85800" y="2340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deck, NDA, build plan and brand assets complete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gate with per-code tracking live on Vercel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85800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Irish broker design partner targets identified and outreached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8580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arranged with WHYRE advisory and OH.io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8580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secured · mypoli.ai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0" cy="3840480"/>
          </a:xfrm>
          <a:prstGeom prst="line">
            <a:avLst/>
          </a:prstGeom>
          <a:noFill/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4892040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 90 Days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6550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516636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broker LOI signed — design partner confirmed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0574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516636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Irish Ltd company registered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45973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5166360" y="2340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raise initiated — €350K SAFE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8620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516636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OH.io partnership conversation concluded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26440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5166360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CTO engaged — build begins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66674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516636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consumer waitlist signups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40690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516636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starts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€350,000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SAFE Note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920240" cy="91440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66928" y="2496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€108K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2423160"/>
            <a:ext cx="1920240" cy="91440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715768" y="2496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1576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broker partners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423160"/>
            <a:ext cx="1920240" cy="91440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864608" y="2496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€70K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6460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2423160"/>
            <a:ext cx="1920240" cy="914400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013448" y="2496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€72K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13448" y="2880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ops &amp; runway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3703320"/>
            <a:ext cx="27432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</a:t>
            </a: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hello@mypoli.ai  ·  mypoli.ai  ·  Demo access code: investor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Shane Duffy</cp:lastModifiedBy>
  <cp:revision>4</cp:revision>
  <dcterms:created xsi:type="dcterms:W3CDTF">2026-05-21T09:01:33Z</dcterms:created>
  <dcterms:modified xsi:type="dcterms:W3CDTF">2026-05-22T13:49:42Z</dcterms:modified>
</cp:coreProperties>
</file>